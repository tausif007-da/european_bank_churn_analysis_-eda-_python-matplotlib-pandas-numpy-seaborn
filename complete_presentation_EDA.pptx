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-3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866" y="1619600"/>
            <a:ext cx="4430268" cy="1169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EUROPEAN BANK CHURN ANALYSIS</a:t>
            </a:r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4572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6626" y="345906"/>
            <a:ext cx="3840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B4D8"/>
                </a:solidFill>
                <a:latin typeface="Calibri"/>
              </a:rPr>
              <a:t>EXPLORATORY DATA ANALYSIS</a:t>
            </a:r>
            <a:endParaRPr sz="2800" b="1" i="0" dirty="0">
              <a:solidFill>
                <a:srgbClr val="00B4D8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30632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8CAE4"/>
                </a:solidFill>
                <a:latin typeface="Calibri"/>
              </a:rPr>
              <a:t>Bank Customer Churn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10,000 Customers  |  10 Features  |  9 Key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4630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Are Customers Leaving?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4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99AE"/>
                </a:solidFill>
                <a:latin typeface="Calibri"/>
              </a:rPr>
              <a:t>A comprehensive exploratory analysis on bank churn drivers — uncovering the demographic, financial, and behavioral patterns that predict customer exit. Built to drive retention strategy.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749039"/>
            <a:ext cx="1920240" cy="109728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37760" y="3749039"/>
            <a:ext cx="54864" cy="10972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3886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F476F"/>
                </a:solidFill>
                <a:latin typeface="Calibri"/>
              </a:rPr>
              <a:t>20.4%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319625"/>
            <a:ext cx="173736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Overall Churn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3749039"/>
            <a:ext cx="1920240" cy="109728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3749039"/>
            <a:ext cx="54864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3886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  <a:latin typeface="Calibri"/>
              </a:rPr>
              <a:t>32.4%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19625"/>
            <a:ext cx="173736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Germany Churn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3749039"/>
            <a:ext cx="2468880" cy="109728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3749039"/>
            <a:ext cx="54864" cy="10972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3886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166"/>
                </a:solidFill>
                <a:latin typeface="Calibri"/>
              </a:rPr>
              <a:t>45–60 yrs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319625"/>
            <a:ext cx="228600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Highest-Risk Age Band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5029200"/>
            <a:ext cx="1920240" cy="109728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37760" y="5029200"/>
            <a:ext cx="54864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5166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9B4"/>
                </a:solidFill>
                <a:latin typeface="Calibri"/>
              </a:rPr>
              <a:t>25.1%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5599785"/>
            <a:ext cx="173736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Female Churn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5029200"/>
            <a:ext cx="1920240" cy="109728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880" y="5029200"/>
            <a:ext cx="54864" cy="10972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78040" y="5166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D6A0"/>
                </a:solidFill>
                <a:latin typeface="Calibri"/>
              </a:rPr>
              <a:t>7.6%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5599785"/>
            <a:ext cx="173736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2-Product Sweet Spot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5029200"/>
            <a:ext cx="2468880" cy="109728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4000" y="5029200"/>
            <a:ext cx="54864" cy="10972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60" y="5166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8CAE4"/>
                </a:solidFill>
                <a:latin typeface="Calibri"/>
              </a:rPr>
              <a:t>26.85%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5599785"/>
            <a:ext cx="228600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Inactive Member Churn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10 analytical questions · 9 visual findings · 6 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02920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075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099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10K customers, 12 columns, zero nulls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58568"/>
            <a:ext cx="502920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31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Overall Churn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340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20.4% customers exited — significant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82696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282696"/>
            <a:ext cx="502920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44728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Geography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5818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Germany leads at 32.4% churn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06824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306824"/>
            <a:ext cx="502920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4714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7997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Gender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823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Female customers churn 6% more than males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30952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5330952"/>
            <a:ext cx="502920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49554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4041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 Group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806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Peak churn: age 45–60 cohort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234440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1234440"/>
            <a:ext cx="502920" cy="89611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139903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13075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Credit Score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17099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Negligible — median scores nearly identical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258568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2258568"/>
            <a:ext cx="502920" cy="89611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24231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2331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Balance vs Churn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7340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High-balance customers more likely to leave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82696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3282696"/>
            <a:ext cx="502920" cy="89611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344728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3558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Count Effect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75818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3–4 products = near-100% exit risk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306824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4306824"/>
            <a:ext cx="502920" cy="89611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44714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437997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Activity 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47823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Inactive members churn 2× more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330952"/>
            <a:ext cx="5394960" cy="89611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00800" y="5330952"/>
            <a:ext cx="502920" cy="89611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549554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4041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Salary &amp; Credit 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5806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Both are neutral churn predictors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Bank_Churn.csv — Clean, Rich,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743200" cy="32004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CustomerID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Unique identifier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D99AE"/>
                </a:solidFill>
                <a:latin typeface="Calibri"/>
              </a:rPr>
              <a:t>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4630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Country: FR, DE, 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Cat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Male / Female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Cat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4630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1463040"/>
            <a:ext cx="274320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45168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Customer age in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8CAE4"/>
                </a:solidFill>
                <a:latin typeface="Calibri"/>
              </a:rPr>
              <a:t>Num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346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28712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CreditScore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2186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Credit score 350–850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8CAE4"/>
                </a:solidFill>
                <a:latin typeface="Calibri"/>
              </a:rPr>
              <a:t>Num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28346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83280" y="2834640"/>
            <a:ext cx="274320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93008" y="28712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2186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Account balance (EUR)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7033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8CAE4"/>
                </a:solidFill>
                <a:latin typeface="Calibri"/>
              </a:rPr>
              <a:t>Num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8346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2834640"/>
            <a:ext cx="274320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19088" y="28712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NumOfProducts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2186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Bank products held (1–4)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7033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8CAE4"/>
                </a:solidFill>
                <a:latin typeface="Calibri"/>
              </a:rPr>
              <a:t>Num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28346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235440" y="2834640"/>
            <a:ext cx="27432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45168" y="28712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HasCrCard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32186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Credit card flag (0/1)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7033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  <a:latin typeface="Calibri"/>
              </a:rPr>
              <a:t>Bool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2062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7200" y="4206240"/>
            <a:ext cx="27432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4242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IsActiveMember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590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Active flag (0/1)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074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  <a:latin typeface="Calibri"/>
              </a:rPr>
              <a:t>Bool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42062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383280" y="4206240"/>
            <a:ext cx="274320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93008" y="4242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EstimatedSalary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4590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Annual salary estimate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074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8CAE4"/>
                </a:solidFill>
                <a:latin typeface="Calibri"/>
              </a:rPr>
              <a:t>Num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2062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09360" y="4206240"/>
            <a:ext cx="274320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19088" y="4242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Tenure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590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Years with bank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074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8CAE4"/>
                </a:solidFill>
                <a:latin typeface="Calibri"/>
              </a:rPr>
              <a:t>Num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4206240"/>
            <a:ext cx="2743200" cy="11887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235440" y="4206240"/>
            <a:ext cx="2743200" cy="3200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45168" y="4242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Exited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4590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TARGET: Churned (1) / Retained (0)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5074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Target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486400"/>
            <a:ext cx="228600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57200" y="548640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5623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  <a:latin typeface="Calibri"/>
              </a:rPr>
              <a:t>10,000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" y="5961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Total Customers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6080" y="5486400"/>
            <a:ext cx="228600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926080" y="5486400"/>
            <a:ext cx="54864" cy="9144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063240" y="5623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8CAE4"/>
                </a:solidFill>
                <a:latin typeface="Calibri"/>
              </a:rPr>
              <a:t>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3240" y="5961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Total Columns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94960" y="5486400"/>
            <a:ext cx="228600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394960" y="5486400"/>
            <a:ext cx="54864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532120" y="5623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D6A0"/>
                </a:solidFill>
                <a:latin typeface="Calibri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32120" y="5961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Missing Values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63840" y="5486400"/>
            <a:ext cx="384048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863840" y="5486400"/>
            <a:ext cx="54864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001000" y="5623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  <a:latin typeface="Calibri"/>
              </a:rPr>
              <a:t>3 Countries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01000" y="59618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France · Germany ·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Q1: Overall Churn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What fraction of customers are leaving?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4572000" cy="402336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F476F"/>
                </a:solidFill>
                <a:latin typeface="Calibri"/>
              </a:rPr>
              <a:t>20.4%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D99AE"/>
                </a:solidFill>
                <a:latin typeface="Calibri"/>
              </a:rPr>
              <a:t>Churn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2,037 customers exited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Calibri"/>
              </a:rPr>
              <a:t>7,963 retained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074920"/>
            <a:ext cx="420624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" y="5074920"/>
            <a:ext cx="3348167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5447" y="5074920"/>
            <a:ext cx="858072" cy="2743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51023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79.6% Retained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1023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20.4% Churned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Industry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20240"/>
            <a:ext cx="5303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103120"/>
            <a:ext cx="530352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Industry Avg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762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6B35"/>
                </a:solidFill>
                <a:latin typeface="Calibri"/>
              </a:rPr>
              <a:t>15–20%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880360"/>
            <a:ext cx="530352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990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Our Churn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953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EF476F"/>
                </a:solidFill>
                <a:latin typeface="Calibri"/>
              </a:rPr>
              <a:t>20.4%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657600"/>
            <a:ext cx="530352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3767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Gap to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73075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EF476F"/>
                </a:solidFill>
                <a:latin typeface="Calibri"/>
              </a:rPr>
              <a:t>+0.4–5.4%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434840"/>
            <a:ext cx="530352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4544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Revenue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5079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D166"/>
                </a:solidFill>
                <a:latin typeface="Calibri"/>
              </a:rPr>
              <a:t>High Priority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303520"/>
            <a:ext cx="5303520" cy="1280160"/>
          </a:xfrm>
          <a:prstGeom prst="rect">
            <a:avLst/>
          </a:prstGeom>
          <a:solidFill>
            <a:srgbClr val="0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5303520"/>
            <a:ext cx="54864" cy="1280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4132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💡  KEY 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687568"/>
            <a:ext cx="50749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At 20.4%, the bank sits at the upper edge of industry norms. Even a 3% reduction in churn on 10,000 customers retains 300 additional clients — translating to significant AUM preservation.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Q2: Geography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Which country has the highest churn?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566160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🇩🇪  Germany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F476F"/>
                </a:solidFill>
                <a:latin typeface="Calibri"/>
              </a:rPr>
              <a:t>32.4%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D99AE"/>
                </a:solidFill>
                <a:latin typeface="Calibri"/>
              </a:rPr>
              <a:t>churn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657600"/>
            <a:ext cx="310896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1007303" cy="2743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D99AE"/>
                </a:solidFill>
                <a:latin typeface="Calibri"/>
              </a:rPr>
              <a:t>2,509 customers
814 churned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76F"/>
                </a:solidFill>
                <a:latin typeface="Calibri"/>
              </a:rPr>
              <a:t>⚠ HIGHEST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141732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🇫🇷  France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148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B4D8"/>
                </a:solidFill>
                <a:latin typeface="Calibri"/>
              </a:rPr>
              <a:t>16.2%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D99AE"/>
                </a:solidFill>
                <a:latin typeface="Calibri"/>
              </a:rPr>
              <a:t>churn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3657600"/>
            <a:ext cx="310896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26280" y="3657600"/>
            <a:ext cx="503651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4069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D99AE"/>
                </a:solidFill>
                <a:latin typeface="Calibri"/>
              </a:rPr>
              <a:t>5,014 customers
811 churned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1417320"/>
            <a:ext cx="35661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🇪🇸  Spain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148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6B35"/>
                </a:solidFill>
                <a:latin typeface="Calibri"/>
              </a:rPr>
              <a:t>16.7%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D99AE"/>
                </a:solidFill>
                <a:latin typeface="Calibri"/>
              </a:rPr>
              <a:t>churn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3657600"/>
            <a:ext cx="310896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66760" y="3657600"/>
            <a:ext cx="519196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4069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D99AE"/>
                </a:solidFill>
                <a:latin typeface="Calibri"/>
              </a:rPr>
              <a:t>2,477 customers
413 churned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03520"/>
            <a:ext cx="11247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1188720"/>
          </a:xfrm>
          <a:prstGeom prst="rect">
            <a:avLst/>
          </a:prstGeom>
          <a:solidFill>
            <a:srgbClr val="0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440680"/>
            <a:ext cx="54864" cy="1188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55040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💡  KEY 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24728"/>
            <a:ext cx="11018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Germany churns at 2× the rate of France and Spain. Root causes likely include competitive banking alternatives, EU regulations, or product-market fit gaps in the DACH region. A dedicated Germany retention team is warranted.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Q3: Gender vs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Do male and female customers behave differently?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42062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03520" cy="73152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♀  Female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69B4"/>
                </a:solidFill>
                <a:latin typeface="Calibri"/>
              </a:rPr>
              <a:t>25.07%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D99AE"/>
                </a:solidFill>
                <a:latin typeface="Calibri"/>
              </a:rPr>
              <a:t>churn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475488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192048" cy="2743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1,139 of 4,543 churned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Calibri"/>
              </a:rPr>
              <a:t>Higher engagement expected but retention is lagging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303520" cy="42062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5303520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♂  Male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488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4169E1"/>
                </a:solidFill>
                <a:latin typeface="Calibri"/>
              </a:rPr>
              <a:t>16.46%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D99AE"/>
                </a:solidFill>
                <a:latin typeface="Calibri"/>
              </a:rPr>
              <a:t>churn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566160"/>
            <a:ext cx="475488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3566160"/>
            <a:ext cx="782653" cy="27432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898 of 5,457 churned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Calibri"/>
              </a:rPr>
              <a:t>Lower churn — better retention or lower engagement?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Calibri"/>
              </a:rPr>
              <a:t>Δ 8.61% 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3429000"/>
            <a:ext cx="77724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solidFill>
            <a:srgbClr val="0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760720"/>
            <a:ext cx="54864" cy="914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87044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💡  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144768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Female customers churn at 25.07% vs 16.46% for males — an 8.6 pp gap. This may signal unmet needs in financial planning products, loan services, or digital UX. Gender-specific retention strategies (e.g., tailored advisory, women-focused investment tools) could close this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Q4: Age Group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Which age cohort churns the most?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1848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18–30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73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Young Adults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673352"/>
            <a:ext cx="59436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1673352"/>
            <a:ext cx="1284639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38360" y="16184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6D6A0"/>
                </a:solidFill>
                <a:latin typeface="Calibri"/>
              </a:rPr>
              <a:t>7.5%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124712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243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31–40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679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Early Career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679192"/>
            <a:ext cx="59436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0" y="2679192"/>
            <a:ext cx="2106809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262432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B4D8"/>
                </a:solidFill>
                <a:latin typeface="Calibri"/>
              </a:rPr>
              <a:t>12.3%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1124712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63016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41–50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685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Mid-Career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685032"/>
            <a:ext cx="59436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0" y="3685032"/>
            <a:ext cx="4813117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38360" y="36301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  <a:latin typeface="Calibri"/>
              </a:rPr>
              <a:t>28.1%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1124712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63600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76F"/>
                </a:solidFill>
                <a:latin typeface="Calibri"/>
              </a:rPr>
              <a:t>51–60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690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Pre-Retirement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690872"/>
            <a:ext cx="59436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0" y="4690872"/>
            <a:ext cx="5943599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38360" y="463600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EF476F"/>
                </a:solidFill>
                <a:latin typeface="Calibri"/>
              </a:rPr>
              <a:t>34.7%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47091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◀ PEAK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564184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60+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696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Retirement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5696712"/>
            <a:ext cx="59436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0" y="5696712"/>
            <a:ext cx="3853919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38360" y="56418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D166"/>
                </a:solidFill>
                <a:latin typeface="Calibri"/>
              </a:rPr>
              <a:t>22.5%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0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6400800"/>
            <a:ext cx="54864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💡  KEY 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784848"/>
            <a:ext cx="110185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The 51–60 cohort has 34.7% churn — nearly 4× that of young adults. This is the bank's highest-value demographic (higher balances, longer tenure). Personalized retirement planning, premium wealth management services, and dedicated relationship managers for this segment would yield the highest ROI.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Q5 &amp; Q6: Credit Score &amp; Balance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Financial health signals — what actually matters?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4114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94960" cy="73152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Credit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D99AE"/>
                </a:solidFill>
                <a:latin typeface="Calibri"/>
              </a:rPr>
              <a:t>NOT A DRIVER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22860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Retained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D99AE"/>
                </a:solidFill>
                <a:latin typeface="Calibri"/>
              </a:rPr>
              <a:t>median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2697480"/>
            <a:ext cx="22860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79" y="2788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Churned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76F"/>
                </a:solidFill>
                <a:latin typeface="Calibri"/>
              </a:rPr>
              <a:t>645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3703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D99AE"/>
                </a:solidFill>
                <a:latin typeface="Calibri"/>
              </a:rPr>
              <a:t>median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D99AE"/>
                </a:solidFill>
                <a:latin typeface="Calibri"/>
              </a:rPr>
              <a:t>Δ Only 6 points — statistically negligible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F476F"/>
                </a:solidFill>
                <a:latin typeface="Calibri"/>
              </a:rPr>
              <a:t>✗  Don't invest in credit-score-based targeting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17320"/>
            <a:ext cx="5394960" cy="4114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417320"/>
            <a:ext cx="53949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Account Balance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libri"/>
              </a:rPr>
              <a:t>STRONG DRIVER  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697480"/>
            <a:ext cx="22860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2788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Retained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€72K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03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D99AE"/>
                </a:solidFill>
                <a:latin typeface="Calibri"/>
              </a:rPr>
              <a:t>median balance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697480"/>
            <a:ext cx="22860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2788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Churned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  <a:latin typeface="Calibri"/>
              </a:rPr>
              <a:t>€91K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703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D99AE"/>
                </a:solidFill>
                <a:latin typeface="Calibri"/>
              </a:rPr>
              <a:t>median 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6B35"/>
                </a:solidFill>
                <a:latin typeface="Calibri"/>
              </a:rPr>
              <a:t>Δ +€19K — churners hold 26% more balance!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6D6A0"/>
                </a:solidFill>
                <a:latin typeface="Calibri"/>
              </a:rPr>
              <a:t>✓  Prioritize high-balance retention campaigns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solidFill>
            <a:srgbClr val="0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669280"/>
            <a:ext cx="54864" cy="10058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577900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💡  KEY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053328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Counterintuitive finding: wealthier customers (higher balances) are MORE likely to leave. These are high-value clients being courted by competitors with better wealth management offers. Credit score is irrelevant to churn — reallocate that monitoring budget to balance-based triggers.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Q7: Number of Products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Does cross-selling help or hurt retention?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51760" cy="43891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6B35"/>
                </a:solidFill>
                <a:latin typeface="Calibri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6B35"/>
                </a:solidFill>
                <a:latin typeface="Calibri"/>
              </a:rPr>
              <a:t>27.7%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churn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29000"/>
            <a:ext cx="2286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429000"/>
            <a:ext cx="63322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8"/>
                </a:solidFill>
                <a:latin typeface="Calibri"/>
              </a:rPr>
              <a:t>Single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D99AE"/>
                </a:solidFill>
                <a:latin typeface="Calibri"/>
              </a:rPr>
              <a:t>Moderate risk — not yet integrated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51760" cy="43891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7560" y="1417320"/>
            <a:ext cx="265176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6D6A0"/>
                </a:solidFill>
                <a:latin typeface="Calibri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9456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6D6A0"/>
                </a:solidFill>
                <a:latin typeface="Calibri"/>
              </a:rPr>
              <a:t>7.6%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churn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429000"/>
            <a:ext cx="2286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20440" y="3429000"/>
            <a:ext cx="173736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4069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8"/>
                </a:solidFill>
                <a:latin typeface="Calibri"/>
              </a:rPr>
              <a:t>Two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34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D99AE"/>
                </a:solidFill>
                <a:latin typeface="Calibri"/>
              </a:rPr>
              <a:t>★ Sweet spot — ideal engagement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417320"/>
            <a:ext cx="2651760" cy="43891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417320"/>
            <a:ext cx="2651760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F476F"/>
                </a:solidFill>
                <a:latin typeface="Calibri"/>
              </a:rPr>
              <a:t>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19456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F476F"/>
                </a:solidFill>
                <a:latin typeface="Calibri"/>
              </a:rPr>
              <a:t>82.7%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churn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429000"/>
            <a:ext cx="2286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3429000"/>
            <a:ext cx="1890522" cy="4572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069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8"/>
                </a:solidFill>
                <a:latin typeface="Calibri"/>
              </a:rPr>
              <a:t>Three Products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434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D99AE"/>
                </a:solidFill>
                <a:latin typeface="Calibri"/>
              </a:rPr>
              <a:t>Product overload — extreme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1417320"/>
            <a:ext cx="2651760" cy="43891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98280" y="1417320"/>
            <a:ext cx="2651760" cy="7315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3544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B0000"/>
                </a:solidFill>
                <a:latin typeface="Calibri"/>
              </a:rPr>
              <a:t>#4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19456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8B0000"/>
                </a:solidFill>
                <a:latin typeface="Calibri"/>
              </a:rP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D99AE"/>
                </a:solidFill>
                <a:latin typeface="Calibri"/>
              </a:rPr>
              <a:t>churn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59" y="3429000"/>
            <a:ext cx="2286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81159" y="3429000"/>
            <a:ext cx="228600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89719" y="4069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8"/>
                </a:solidFill>
                <a:latin typeface="Calibri"/>
              </a:rPr>
              <a:t>Four Products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4434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D99AE"/>
                </a:solidFill>
                <a:latin typeface="Calibri"/>
              </a:rPr>
              <a:t>⚠ ALL customers churned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solidFill>
            <a:srgbClr val="0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5989320"/>
            <a:ext cx="54864" cy="685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609904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💡  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373368"/>
            <a:ext cx="11018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Two products is the Goldilocks zone: 7.6% churn. Beyond that, the bank creates 'product prisoners' — customers who feel trapped or over-committed and exit entirely. The cross-sell strategy must stop at 2 products and focus on quality over quantity.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Q8, Q9, Q10: Activity · Salary · Credit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Behavioral and financial feature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39319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949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Activity Status  ✓  KEY DRIVER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02920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657600" cy="320040"/>
          </a:xfrm>
          <a:prstGeom prst="rect">
            <a:avLst/>
          </a:prstGeom>
          <a:solidFill>
            <a:srgbClr val="07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194390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6D6A0"/>
                </a:solidFill>
                <a:latin typeface="Calibri"/>
              </a:rPr>
              <a:t>14.27%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502920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  <a:latin typeface="Calibri"/>
              </a:rPr>
              <a:t>Inactive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77639"/>
            <a:ext cx="3657600" cy="320040"/>
          </a:xfrm>
          <a:prstGeom prst="rect">
            <a:avLst/>
          </a:prstGeom>
          <a:solidFill>
            <a:srgbClr val="07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977639"/>
            <a:ext cx="3657600" cy="3200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EF476F"/>
                </a:solidFill>
                <a:latin typeface="Calibri"/>
              </a:rPr>
              <a:t>26.85%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6B35"/>
                </a:solidFill>
                <a:latin typeface="Calibri"/>
              </a:rPr>
              <a:t>Inactive members churn 88% MORE than 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17320"/>
            <a:ext cx="5394960" cy="178308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417320"/>
            <a:ext cx="5394960" cy="73152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Salary  ✗  NOT A DRIVER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~€99.7K retained  vs  ~€101.5K churned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D99AE"/>
                </a:solidFill>
                <a:latin typeface="Calibri"/>
              </a:rPr>
              <a:t>Δ &lt; 2% — irrelevant for targeting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1031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76F"/>
                </a:solidFill>
                <a:latin typeface="Calibr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337560"/>
            <a:ext cx="5394960" cy="201168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337560"/>
            <a:ext cx="5394960" cy="73152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Credit Card  ✗  NOT A DRIVER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Has Card:    20.8% churn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No Card:     20.1% churn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D99AE"/>
                </a:solidFill>
                <a:latin typeface="Calibri"/>
              </a:rPr>
              <a:t>Δ 0.7% — statistically meaningless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114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76F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solidFill>
            <a:srgbClr val="0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54864" cy="10972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568756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💡  KEY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961888"/>
            <a:ext cx="11018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Activity is the clearest behavioral signal: inactive members are the bank's quiet leavers. Salary and credit card ownership offer zero predictive value — remove them from any future churn model to reduce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Churn Driver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Ranking factors by business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 (45–60 cohort)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536192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536192"/>
            <a:ext cx="4206240" cy="2743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76F"/>
                </a:solidFill>
                <a:latin typeface="Calibri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508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34.7% churn — the most predictive demographic 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02536"/>
            <a:ext cx="11247120" cy="5486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0939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Geography (Germany)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121408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31920" y="2121408"/>
            <a:ext cx="4023360" cy="2743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075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76F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093976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32.4% — 2× other markets, systemic market issue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87752"/>
            <a:ext cx="11247120" cy="5486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679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Account Balance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706624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31920" y="2706624"/>
            <a:ext cx="3749039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26609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6791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Churners hold €19K more — HNW attrition 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72968"/>
            <a:ext cx="11247120" cy="5486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264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Number of Products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291839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31920" y="3291839"/>
            <a:ext cx="365760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3246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326440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3–4 products → near-certain churn; 2 is optimal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58184"/>
            <a:ext cx="11247120" cy="5486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3849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Gender (Female)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3877056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31920" y="3877056"/>
            <a:ext cx="2651760" cy="2743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0" y="38313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  <a:latin typeface="Calibri"/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49624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25% vs 16% — 8.6 pp gap requiring segment strategy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43400"/>
            <a:ext cx="11247120" cy="5486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Activity Status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4462272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931920" y="4462272"/>
            <a:ext cx="2514600" cy="2743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0" y="44165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  <a:latin typeface="Calibri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434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Inactive members churn 88% more than active ones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28616"/>
            <a:ext cx="11247120" cy="5486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502005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Credit Score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5047488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931920" y="5047488"/>
            <a:ext cx="54864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0" y="50017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  <a:latin typeface="Calibri"/>
              </a:rP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5020055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Median 645 vs 651 — 6 pt gap, not actionable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513832"/>
            <a:ext cx="11247120" cy="5486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5605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Estimated Salary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5632704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931920" y="5632704"/>
            <a:ext cx="36576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86800" y="55869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  <a:latin typeface="Calibri"/>
              </a:rPr>
              <a:t>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56052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~€100K both groups — completely neutral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099048"/>
            <a:ext cx="11247120" cy="5486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4360" y="6190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Credit Card Ownership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6217920"/>
            <a:ext cx="4572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931920" y="6217920"/>
            <a:ext cx="27432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86800" y="6172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  <a:latin typeface="Calibri"/>
              </a:rPr>
              <a:t>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1904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99AE"/>
                </a:solidFill>
                <a:latin typeface="Calibri"/>
              </a:rPr>
              <a:t>0.7 pp gap — remove from targeting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6 data-driven actions to reduce churn by 5–8%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69280" cy="16459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2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9202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90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Germany Retention Task 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202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Deploy dedicated retention managers in Germany. Investigate product-market fit, fee structures, and competitor landscape. Consider market-specific promotions.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70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Impact: −5% Germany churn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5669280" cy="16459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502920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9202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90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45–60 Wealth Management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9202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Launch premium retirement &amp; wealth management products targeting the 45–60 cohort. Assign personal financial advisors to accounts with balance &gt; €50K.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770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Impact: −4% age-band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5669280" cy="16459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502920" cy="16459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36576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227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High-Balance Client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576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Create a VIP tier for customers with balance &gt; €80K. Offer preferential rates, exclusive products, and proactive outreach before churn signals emerge.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507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Calibri"/>
              </a:rPr>
              <a:t>Impact: Protect top 20% AUM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154680"/>
            <a:ext cx="5669280" cy="16459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154680"/>
            <a:ext cx="502920" cy="1645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36576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227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Two-Product Optimization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6576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Cap cross-selling at 2 products. Redefine success metrics for relationship managers to focus on quality over product count.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507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−75% 3-product churn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5669280" cy="16459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892040"/>
            <a:ext cx="502920" cy="16459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539495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965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Female Customer Experience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39495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Conduct segmented UX research with female customers. Identify unmet needs in advisory, digital features, and communication to close the 8.6 pp churn gap.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6245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9B4"/>
                </a:solidFill>
                <a:latin typeface="Calibri"/>
              </a:rPr>
              <a:t>Impact: −3–5% gender gap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892040"/>
            <a:ext cx="5669280" cy="164592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0" y="4892040"/>
            <a:ext cx="502920" cy="1645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28232" y="539495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965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Inactivity Early-Warning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39495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Calibri"/>
              </a:rPr>
              <a:t>Build a 30/60/90-day inactivity trigger campaign. Automated re-engagement emails, app push notifications, and relationship manager alerts for high-value dormant accounts.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6245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Impact: −6% inactive churn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8288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0292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700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Age 45–60 in Germany is the highest-risk intersection — address it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01952"/>
            <a:ext cx="502920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933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High-balance customers leaving = AUM drain. Protect them with VIP treatment.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06624"/>
            <a:ext cx="50292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8163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980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Two products is the magic number. Stop the cross-sell treadmill at three.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11296"/>
            <a:ext cx="502920" cy="6583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210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027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Female-specific products and UX improvements could recover 8.6 pp of churn gap.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15968"/>
            <a:ext cx="502920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4256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07407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Inactivity is a leading indicator. Build early-warning systems now.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502920" cy="658368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230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Credit score, salary, and credit card are noise — remove from targeting models.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0D81E9-D5CC-D9CE-4D96-766B16D0C83F}"/>
              </a:ext>
            </a:extLst>
          </p:cNvPr>
          <p:cNvSpPr txBox="1"/>
          <p:nvPr/>
        </p:nvSpPr>
        <p:spPr>
          <a:xfrm>
            <a:off x="8667750" y="2730138"/>
            <a:ext cx="270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r>
              <a:rPr lang="en-IN" b="1" dirty="0">
                <a:solidFill>
                  <a:schemeClr val="bg1"/>
                </a:solidFill>
              </a:rPr>
              <a:t>FULL PROJECT CODE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AND VISUALS AVAILABLE IN GITHUB 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1495</Words>
  <Application>Microsoft Office PowerPoint</Application>
  <PresentationFormat>Custom</PresentationFormat>
  <Paragraphs>304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tausif raza</dc:creator>
  <cp:keywords/>
  <dc:description>generated using python-pptx</dc:description>
  <cp:lastModifiedBy>tausif raza</cp:lastModifiedBy>
  <cp:revision>2</cp:revision>
  <dcterms:created xsi:type="dcterms:W3CDTF">2013-01-27T09:14:16Z</dcterms:created>
  <dcterms:modified xsi:type="dcterms:W3CDTF">2026-03-30T15:56:13Z</dcterms:modified>
  <cp:category/>
</cp:coreProperties>
</file>